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65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FOR ML &amp; DATA SCIENCE  ·  COURSE 1  ·  WEEK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13232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 Elimination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3429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systems of linear equations, step by step — study notes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814816" y="4709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17736" y="4709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20656" y="4709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14816" y="51663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17736" y="51663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20656" y="51663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14816" y="56235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17736" y="56235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20656" y="56235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86800" y="4709160"/>
            <a:ext cx="0" cy="1371600"/>
          </a:xfrm>
          <a:prstGeom prst="line">
            <a:avLst/>
          </a:prstGeom>
          <a:noFill/>
          <a:ln w="22225">
            <a:solidFill>
              <a:srgbClr val="6E9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0" y="4709160"/>
            <a:ext cx="82296" cy="0"/>
          </a:xfrm>
          <a:prstGeom prst="line">
            <a:avLst/>
          </a:prstGeom>
          <a:noFill/>
          <a:ln w="22225">
            <a:solidFill>
              <a:srgbClr val="6E9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0" y="6080760"/>
            <a:ext cx="82296" cy="0"/>
          </a:xfrm>
          <a:prstGeom prst="line">
            <a:avLst/>
          </a:prstGeom>
          <a:noFill/>
          <a:ln w="22225">
            <a:solidFill>
              <a:srgbClr val="6E9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51592" y="4709160"/>
            <a:ext cx="0" cy="1371600"/>
          </a:xfrm>
          <a:prstGeom prst="line">
            <a:avLst/>
          </a:prstGeom>
          <a:noFill/>
          <a:ln w="22225">
            <a:solidFill>
              <a:srgbClr val="6E9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69296" y="4709160"/>
            <a:ext cx="82296" cy="0"/>
          </a:xfrm>
          <a:prstGeom prst="line">
            <a:avLst/>
          </a:prstGeom>
          <a:noFill/>
          <a:ln w="22225">
            <a:solidFill>
              <a:srgbClr val="6E9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69296" y="6080760"/>
            <a:ext cx="82296" cy="0"/>
          </a:xfrm>
          <a:prstGeom prst="line">
            <a:avLst/>
          </a:prstGeom>
          <a:noFill/>
          <a:ln w="22225">
            <a:solidFill>
              <a:srgbClr val="6E9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160520"/>
            <a:ext cx="2926080" cy="0"/>
          </a:xfrm>
          <a:prstGeom prst="line">
            <a:avLst/>
          </a:prstGeom>
          <a:noFill/>
          <a:ln w="12700">
            <a:solidFill>
              <a:srgbClr val="3E5C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3434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reference notes — worked examples pulled directly from the lecture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C1W2 programming assignment.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Picture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elimination is the elimination method you already know for solving equations by hand — restructured so it can be applied mechanically, row by row, to any system.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2F7F9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44144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41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Augmented Matrix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 coefficients and the constants into one matrix, [A | B].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96512" y="3840480"/>
            <a:ext cx="265176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89120" y="214884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2F7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244144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441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0175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to Row Echelon Form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63440" y="38404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row operations to force zeros below the diagonal, one pivot at a time.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36992" y="3840480"/>
            <a:ext cx="265176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29600" y="214884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2F7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503920" y="244144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2441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03920" y="30175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Back-Substitute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503920" y="38404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the bottom row upward, clearing entries above each pivot.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the values in the last (constant) column become the solution to your system.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Elimination — Study Notes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The Augmented Matrix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this system — we'll carry it through the next few slides: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2x₂ +  x₃  =  3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x₁  + x₂ + x₃ =  6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x₁ + 2x₂ + x₃ = 12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the coefficients (A) from the constants (B):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50976" y="3703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99616" y="3703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48256" y="3703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0976" y="4160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99616" y="4160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48256" y="4160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4617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99616" y="4617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48256" y="4617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3703320"/>
            <a:ext cx="0" cy="137160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70332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507492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24912" y="3703320"/>
            <a:ext cx="0" cy="137160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42616" y="370332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42616" y="507492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08760" y="5166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54096" y="3703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054096" y="4160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054096" y="4617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926080" y="3703320"/>
            <a:ext cx="0" cy="137160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0" y="370332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26080" y="507492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30752" y="3703320"/>
            <a:ext cx="0" cy="137160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48456" y="370332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48456" y="507492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54680" y="5166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160520" y="4343400"/>
            <a:ext cx="4572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5157216" y="3703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705856" y="3703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54496" y="3703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03136" y="3703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157216" y="4160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705856" y="4160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54496" y="4160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03136" y="4160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157216" y="4617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705856" y="4617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254496" y="4617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03136" y="4617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803136" y="3657600"/>
            <a:ext cx="0" cy="1463040"/>
          </a:xfrm>
          <a:prstGeom prst="line">
            <a:avLst/>
          </a:prstGeom>
          <a:noFill/>
          <a:ln w="12700">
            <a:solidFill>
              <a:srgbClr val="5B6B76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5029200" y="3703320"/>
            <a:ext cx="0" cy="137160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29200" y="370332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0" y="507492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79792" y="3703320"/>
            <a:ext cx="0" cy="137160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97496" y="370332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97496" y="507492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0" y="5166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 | B ]  — the augmented matrix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8778240" y="1234440"/>
            <a:ext cx="2880360" cy="2971800"/>
          </a:xfrm>
          <a:prstGeom prst="roundRect">
            <a:avLst>
              <a:gd name="adj" fmla="val 3175"/>
            </a:avLst>
          </a:prstGeom>
          <a:solidFill>
            <a:srgbClr val="F2F7F9"/>
          </a:solidFill>
          <a:ln/>
        </p:spPr>
      </p:sp>
      <p:sp>
        <p:nvSpPr>
          <p:cNvPr id="55" name="Text 53"/>
          <p:cNvSpPr/>
          <p:nvPr/>
        </p:nvSpPr>
        <p:spPr>
          <a:xfrm>
            <a:off x="9006840" y="1417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augment?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9006840" y="182880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vertical bar is just a reminder: everything left of it is a coefficient, everything right of it is a constant. Any row operation you do gets applied to the whole row — constants included.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Elimination — Study Notes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3 LEGAL MOVES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Row Operations Toolkit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2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9164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Switching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2377440"/>
            <a:ext cx="2971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774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Rᵢ  ↔  Rⱼ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two rows. Needed when a pivot candidate is 0 but a row below it isn't.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141732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2F7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169164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16916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Scaling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663440" y="2377440"/>
            <a:ext cx="2971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3774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Rᵢ  →  k · Rᵢ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63440" y="32461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a row by a nonzero scalar. Used to turn a pivot into exactly 1.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0" y="141732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2F7F9"/>
          </a:solidFill>
          <a:ln/>
        </p:spPr>
      </p:sp>
      <p:sp>
        <p:nvSpPr>
          <p:cNvPr id="19" name="Shape 17"/>
          <p:cNvSpPr/>
          <p:nvPr/>
        </p:nvSpPr>
        <p:spPr>
          <a:xfrm>
            <a:off x="8503920" y="169164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52560" y="16916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Replacement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503920" y="2377440"/>
            <a:ext cx="2971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23774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Rᵢ  →  Rᵢ − k · Rⱼ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503920" y="32461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a multiple of one row from another. Used to zero out entries below a pivot.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change the solution set — they just rewrite the same system in a more convenient form.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Elimination — Study Notes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Reaching Row Echelon Form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6656" y="1508760"/>
            <a:ext cx="475488" cy="384048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0876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52144" y="150876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627632" y="150876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103120" y="150876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76656" y="189280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52144" y="189280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627632" y="189280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103120" y="189280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76656" y="227685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52144" y="227685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627632" y="227685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103120" y="227685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103120" y="1463040"/>
            <a:ext cx="0" cy="1243584"/>
          </a:xfrm>
          <a:prstGeom prst="line">
            <a:avLst/>
          </a:prstGeom>
          <a:noFill/>
          <a:ln w="12700">
            <a:solidFill>
              <a:srgbClr val="5B6B7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48640" y="1508760"/>
            <a:ext cx="0" cy="1152144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150876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660904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06624" y="1508760"/>
            <a:ext cx="0" cy="1152144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24328" y="150876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4328" y="2660904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2084832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063240" y="181051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R₀, R₁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(pivot was 0)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00016" y="150876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175504" y="150876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650992" y="150876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126480" y="150876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700016" y="189280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175504" y="189280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650992" y="189280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126480" y="189280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700016" y="227685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175504" y="227685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5650992" y="227685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126480" y="227685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126480" y="1463040"/>
            <a:ext cx="0" cy="1243584"/>
          </a:xfrm>
          <a:prstGeom prst="line">
            <a:avLst/>
          </a:prstGeom>
          <a:noFill/>
          <a:ln w="12700">
            <a:solidFill>
              <a:srgbClr val="5B6B76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572000" y="1508760"/>
            <a:ext cx="0" cy="1152144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0" y="150876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0" y="2660904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29984" y="1508760"/>
            <a:ext cx="0" cy="1152144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47688" y="150876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47688" y="2660904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17720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R₂ → R₂ − R₀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766560" y="2084832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7086600" y="181051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R₁ by ½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(pivot → 1)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723376" y="150876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9198864" y="150876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9674352" y="150876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10149840" y="150876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8723376" y="189280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9198864" y="189280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9674352" y="189280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10149840" y="189280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8723376" y="227685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9198864" y="227685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9674352" y="227685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10149840" y="227685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10149840" y="1463040"/>
            <a:ext cx="0" cy="1243584"/>
          </a:xfrm>
          <a:prstGeom prst="line">
            <a:avLst/>
          </a:prstGeom>
          <a:noFill/>
          <a:ln w="12700">
            <a:solidFill>
              <a:srgbClr val="5B6B76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8595360" y="1508760"/>
            <a:ext cx="0" cy="1152144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595360" y="150876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595360" y="2660904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753344" y="1508760"/>
            <a:ext cx="0" cy="1152144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671048" y="150876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671048" y="2660904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784080" y="2880360"/>
            <a:ext cx="0" cy="3200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7589520" y="3063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R₂ → R₂ − R₁, then scale R₂ by −2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818120" y="3520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— Row Echelon Form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7946136" y="384048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8421624" y="384048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50" dirty="0"/>
          </a:p>
        </p:txBody>
      </p:sp>
      <p:sp>
        <p:nvSpPr>
          <p:cNvPr id="73" name="Text 71"/>
          <p:cNvSpPr/>
          <p:nvPr/>
        </p:nvSpPr>
        <p:spPr>
          <a:xfrm>
            <a:off x="8897112" y="384048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50" dirty="0"/>
          </a:p>
        </p:txBody>
      </p:sp>
      <p:sp>
        <p:nvSpPr>
          <p:cNvPr id="74" name="Text 72"/>
          <p:cNvSpPr/>
          <p:nvPr/>
        </p:nvSpPr>
        <p:spPr>
          <a:xfrm>
            <a:off x="9372600" y="384048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50" dirty="0"/>
          </a:p>
        </p:txBody>
      </p:sp>
      <p:sp>
        <p:nvSpPr>
          <p:cNvPr id="75" name="Text 73"/>
          <p:cNvSpPr/>
          <p:nvPr/>
        </p:nvSpPr>
        <p:spPr>
          <a:xfrm>
            <a:off x="7946136" y="422452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50" dirty="0"/>
          </a:p>
        </p:txBody>
      </p:sp>
      <p:sp>
        <p:nvSpPr>
          <p:cNvPr id="76" name="Text 74"/>
          <p:cNvSpPr/>
          <p:nvPr/>
        </p:nvSpPr>
        <p:spPr>
          <a:xfrm>
            <a:off x="8421624" y="422452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50" dirty="0"/>
          </a:p>
        </p:txBody>
      </p:sp>
      <p:sp>
        <p:nvSpPr>
          <p:cNvPr id="77" name="Text 75"/>
          <p:cNvSpPr/>
          <p:nvPr/>
        </p:nvSpPr>
        <p:spPr>
          <a:xfrm>
            <a:off x="8897112" y="422452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350" dirty="0"/>
          </a:p>
        </p:txBody>
      </p:sp>
      <p:sp>
        <p:nvSpPr>
          <p:cNvPr id="78" name="Text 76"/>
          <p:cNvSpPr/>
          <p:nvPr/>
        </p:nvSpPr>
        <p:spPr>
          <a:xfrm>
            <a:off x="9372600" y="422452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endParaRPr lang="en-US" sz="1350" dirty="0"/>
          </a:p>
        </p:txBody>
      </p:sp>
      <p:sp>
        <p:nvSpPr>
          <p:cNvPr id="79" name="Text 77"/>
          <p:cNvSpPr/>
          <p:nvPr/>
        </p:nvSpPr>
        <p:spPr>
          <a:xfrm>
            <a:off x="7946136" y="460857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50" dirty="0"/>
          </a:p>
        </p:txBody>
      </p:sp>
      <p:sp>
        <p:nvSpPr>
          <p:cNvPr id="80" name="Text 78"/>
          <p:cNvSpPr/>
          <p:nvPr/>
        </p:nvSpPr>
        <p:spPr>
          <a:xfrm>
            <a:off x="8421624" y="460857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50" dirty="0"/>
          </a:p>
        </p:txBody>
      </p:sp>
      <p:sp>
        <p:nvSpPr>
          <p:cNvPr id="81" name="Text 79"/>
          <p:cNvSpPr/>
          <p:nvPr/>
        </p:nvSpPr>
        <p:spPr>
          <a:xfrm>
            <a:off x="8897112" y="460857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50" dirty="0"/>
          </a:p>
        </p:txBody>
      </p:sp>
      <p:sp>
        <p:nvSpPr>
          <p:cNvPr id="82" name="Text 80"/>
          <p:cNvSpPr/>
          <p:nvPr/>
        </p:nvSpPr>
        <p:spPr>
          <a:xfrm>
            <a:off x="9372600" y="460857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-9</a:t>
            </a:r>
            <a:endParaRPr lang="en-US" sz="1350" dirty="0"/>
          </a:p>
        </p:txBody>
      </p:sp>
      <p:sp>
        <p:nvSpPr>
          <p:cNvPr id="83" name="Shape 81"/>
          <p:cNvSpPr/>
          <p:nvPr/>
        </p:nvSpPr>
        <p:spPr>
          <a:xfrm>
            <a:off x="9372600" y="3794760"/>
            <a:ext cx="0" cy="1243584"/>
          </a:xfrm>
          <a:prstGeom prst="line">
            <a:avLst/>
          </a:prstGeom>
          <a:noFill/>
          <a:ln w="12700">
            <a:solidFill>
              <a:srgbClr val="5B6B76"/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>
            <a:off x="7818120" y="3840480"/>
            <a:ext cx="0" cy="1152144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818120" y="384048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818120" y="4992624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976104" y="3840480"/>
            <a:ext cx="0" cy="1152144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893808" y="384048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893808" y="4992624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48640" y="3108960"/>
            <a:ext cx="6126480" cy="2514600"/>
          </a:xfrm>
          <a:prstGeom prst="roundRect">
            <a:avLst>
              <a:gd name="adj" fmla="val 3636"/>
            </a:avLst>
          </a:prstGeom>
          <a:solidFill>
            <a:srgbClr val="F2F7F9"/>
          </a:solidFill>
          <a:ln/>
        </p:spPr>
      </p:sp>
      <p:sp>
        <p:nvSpPr>
          <p:cNvPr id="91" name="Text 89"/>
          <p:cNvSpPr/>
          <p:nvPr/>
        </p:nvSpPr>
        <p:spPr>
          <a:xfrm>
            <a:off x="822960" y="32918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process</a:t>
            </a:r>
            <a:endParaRPr lang="en-US" sz="1400" dirty="0"/>
          </a:p>
        </p:txBody>
      </p:sp>
      <p:sp>
        <p:nvSpPr>
          <p:cNvPr id="92" name="Text 90"/>
          <p:cNvSpPr/>
          <p:nvPr/>
        </p:nvSpPr>
        <p:spPr>
          <a:xfrm>
            <a:off x="822960" y="3639312"/>
            <a:ext cx="5577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entry M[0,0] is 0, so it can't be a pivot — swap in a row with a nonzero value there.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everything below the new pivot using row replacement.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the next diagonal entry (the next pivot) and repeat: scale to 1, clear below it.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every pivot is 1 and everything below the diagonal is 0, you're in row echelon form.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Elimination — Study Notes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&amp; COMMON MISTAKES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Counts as Row Echelon Form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that are entirely zero sit at the bottom.
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row's leading nonzero entry (the pivot) sits strictly to the right of the pivot in the row above it — so everything below a pivot, in its own column, is 0.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EAF4E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68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Valid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62456" y="30175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865376" y="30175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368296" y="30175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362456" y="34290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865376" y="34290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368296" y="34290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62456" y="38404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865376" y="38404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368296" y="38404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234440" y="3017520"/>
            <a:ext cx="0" cy="123444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4440" y="301752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34440" y="425196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99232" y="3017520"/>
            <a:ext cx="0" cy="123444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16936" y="301752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16936" y="425196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892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below the diagonal is 0.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97680" y="228600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DEDEC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2468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 Not valid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111496" y="3840480"/>
            <a:ext cx="502920" cy="41148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26" name="Text 24"/>
          <p:cNvSpPr/>
          <p:nvPr/>
        </p:nvSpPr>
        <p:spPr>
          <a:xfrm>
            <a:off x="5111496" y="30175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614416" y="30175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117336" y="30175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111496" y="34290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5614416" y="34290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117336" y="34290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5111496" y="38404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5614416" y="38404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6117336" y="38404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4983480" y="3017520"/>
            <a:ext cx="0" cy="123444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83480" y="301752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83480" y="425196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48272" y="3017520"/>
            <a:ext cx="0" cy="123444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65976" y="301752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65976" y="425196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4892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 has a nonzero value below the first pivot (column 0).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046720" y="228600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DEDEC"/>
          </a:solidFill>
          <a:ln/>
        </p:spPr>
      </p:sp>
      <p:sp>
        <p:nvSpPr>
          <p:cNvPr id="43" name="Text 41"/>
          <p:cNvSpPr/>
          <p:nvPr/>
        </p:nvSpPr>
        <p:spPr>
          <a:xfrm>
            <a:off x="8321040" y="2468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  Not valid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9866376" y="3840480"/>
            <a:ext cx="502920" cy="41148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45" name="Text 43"/>
          <p:cNvSpPr/>
          <p:nvPr/>
        </p:nvSpPr>
        <p:spPr>
          <a:xfrm>
            <a:off x="8860536" y="30175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50" dirty="0"/>
          </a:p>
        </p:txBody>
      </p:sp>
      <p:sp>
        <p:nvSpPr>
          <p:cNvPr id="46" name="Text 44"/>
          <p:cNvSpPr/>
          <p:nvPr/>
        </p:nvSpPr>
        <p:spPr>
          <a:xfrm>
            <a:off x="9363456" y="30175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9866376" y="30175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8860536" y="34290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9363456" y="34290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50" dirty="0"/>
          </a:p>
        </p:txBody>
      </p:sp>
      <p:sp>
        <p:nvSpPr>
          <p:cNvPr id="50" name="Text 48"/>
          <p:cNvSpPr/>
          <p:nvPr/>
        </p:nvSpPr>
        <p:spPr>
          <a:xfrm>
            <a:off x="9866376" y="34290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50" dirty="0"/>
          </a:p>
        </p:txBody>
      </p:sp>
      <p:sp>
        <p:nvSpPr>
          <p:cNvPr id="51" name="Text 49"/>
          <p:cNvSpPr/>
          <p:nvPr/>
        </p:nvSpPr>
        <p:spPr>
          <a:xfrm>
            <a:off x="8860536" y="38404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9363456" y="38404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50" dirty="0"/>
          </a:p>
        </p:txBody>
      </p:sp>
      <p:sp>
        <p:nvSpPr>
          <p:cNvPr id="53" name="Text 51"/>
          <p:cNvSpPr/>
          <p:nvPr/>
        </p:nvSpPr>
        <p:spPr>
          <a:xfrm>
            <a:off x="9866376" y="38404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50" dirty="0"/>
          </a:p>
        </p:txBody>
      </p:sp>
      <p:sp>
        <p:nvSpPr>
          <p:cNvPr id="54" name="Shape 52"/>
          <p:cNvSpPr/>
          <p:nvPr/>
        </p:nvSpPr>
        <p:spPr>
          <a:xfrm>
            <a:off x="8732520" y="3017520"/>
            <a:ext cx="0" cy="123444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32520" y="301752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732520" y="425196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497312" y="3017520"/>
            <a:ext cx="0" cy="123444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415016" y="301752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415016" y="425196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21040" y="4892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pivot (row 1, value 4) still has a nonzero entry below it.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Elimination — Study Notes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REF TO 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Back Substitution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work bottom-to-top. Each pivot is used to cancel the entries above it, the mirror image of building row echelon form.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above  →  Row above − value × Row pivot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773936" y="3072384"/>
            <a:ext cx="548640" cy="438912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219456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25296" y="219456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73936" y="219456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322576" y="219456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6656" y="2633472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25296" y="2633472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73936" y="2633472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22576" y="2633472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6656" y="3072384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25296" y="3072384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73936" y="3072384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322576" y="3072384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322576" y="2148840"/>
            <a:ext cx="0" cy="1408176"/>
          </a:xfrm>
          <a:prstGeom prst="line">
            <a:avLst/>
          </a:prstGeom>
          <a:noFill/>
          <a:ln w="12700">
            <a:solidFill>
              <a:srgbClr val="5B6B7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48640" y="2194560"/>
            <a:ext cx="0" cy="1316736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19456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511296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99232" y="2194560"/>
            <a:ext cx="0" cy="1316736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16936" y="219456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16936" y="3511296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657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echelon form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(unitary pivots)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40480" y="2606040"/>
            <a:ext cx="4572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4343400" y="2331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R₂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clear above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37376" y="2633472"/>
            <a:ext cx="548640" cy="438912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30" name="Text 28"/>
          <p:cNvSpPr/>
          <p:nvPr/>
        </p:nvSpPr>
        <p:spPr>
          <a:xfrm>
            <a:off x="5888736" y="219456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37376" y="219456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86016" y="219456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534656" y="219456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888736" y="2633472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437376" y="2633472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986016" y="2633472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534656" y="2633472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888736" y="3072384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437376" y="3072384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986016" y="3072384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534656" y="3072384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7534656" y="2148840"/>
            <a:ext cx="0" cy="1408176"/>
          </a:xfrm>
          <a:prstGeom prst="line">
            <a:avLst/>
          </a:prstGeom>
          <a:noFill/>
          <a:ln w="12700">
            <a:solidFill>
              <a:srgbClr val="5B6B76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5760720" y="2194560"/>
            <a:ext cx="0" cy="1316736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60720" y="219456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60720" y="3511296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11312" y="2194560"/>
            <a:ext cx="0" cy="1316736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29016" y="219456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29016" y="3511296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052560" y="2606040"/>
            <a:ext cx="4572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9555480" y="2331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R₁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clear above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76072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— Reduced Row Echelon Form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888736" y="448056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6437376" y="448056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6986016" y="448056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7534656" y="448056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5888736" y="4919472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6437376" y="4919472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6986016" y="4919472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7534656" y="4919472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5888736" y="5358384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6437376" y="5358384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6986016" y="5358384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7534656" y="5358384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7534656" y="4434840"/>
            <a:ext cx="0" cy="1408176"/>
          </a:xfrm>
          <a:prstGeom prst="line">
            <a:avLst/>
          </a:prstGeom>
          <a:noFill/>
          <a:ln w="12700">
            <a:solidFill>
              <a:srgbClr val="5B6B76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5760720" y="4480560"/>
            <a:ext cx="0" cy="1316736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760720" y="448056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760720" y="5797296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211312" y="4480560"/>
            <a:ext cx="0" cy="1316736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129016" y="448056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129016" y="5797296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464040" y="4160520"/>
            <a:ext cx="2148840" cy="1737360"/>
          </a:xfrm>
          <a:prstGeom prst="roundRect">
            <a:avLst>
              <a:gd name="adj" fmla="val 5263"/>
            </a:avLst>
          </a:prstGeom>
          <a:solidFill>
            <a:srgbClr val="F2F7F9"/>
          </a:solidFill>
          <a:ln/>
        </p:spPr>
      </p:sp>
      <p:sp>
        <p:nvSpPr>
          <p:cNvPr id="72" name="Text 70"/>
          <p:cNvSpPr/>
          <p:nvPr/>
        </p:nvSpPr>
        <p:spPr>
          <a:xfrm>
            <a:off x="964692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9646920" y="45720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x₀ = 1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x₁ = 0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x₂ = −1</a:t>
            </a:r>
            <a:endParaRPr lang="en-US" sz="1500" dirty="0"/>
          </a:p>
        </p:txBody>
      </p:sp>
      <p:sp>
        <p:nvSpPr>
          <p:cNvPr id="74" name="Text 72"/>
          <p:cNvSpPr/>
          <p:nvPr/>
        </p:nvSpPr>
        <p:spPr>
          <a:xfrm>
            <a:off x="548640" y="6217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identity matrix on the left means the constant column IS the answer.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Elimination — Study Notes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ELIMINATION HITS A WALL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Singular Case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row reduction produces a row of all zeros in the coefficient part, the matrix is singular — the algorithm stops. Look at the constant in that row to see why: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2F7F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Infinitely Many Solutions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2907792" y="3493008"/>
            <a:ext cx="530352" cy="420624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8" name="Text 6"/>
          <p:cNvSpPr/>
          <p:nvPr/>
        </p:nvSpPr>
        <p:spPr>
          <a:xfrm>
            <a:off x="1316736" y="2651760"/>
            <a:ext cx="530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47088" y="2651760"/>
            <a:ext cx="530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77440" y="2651760"/>
            <a:ext cx="530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07792" y="2651760"/>
            <a:ext cx="530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16736" y="3072384"/>
            <a:ext cx="530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47088" y="3072384"/>
            <a:ext cx="530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77440" y="3072384"/>
            <a:ext cx="530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07792" y="3072384"/>
            <a:ext cx="530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16736" y="3493008"/>
            <a:ext cx="530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47088" y="3493008"/>
            <a:ext cx="530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377440" y="3493008"/>
            <a:ext cx="530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07792" y="3493008"/>
            <a:ext cx="530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907792" y="2606040"/>
            <a:ext cx="0" cy="1353312"/>
          </a:xfrm>
          <a:prstGeom prst="line">
            <a:avLst/>
          </a:prstGeom>
          <a:noFill/>
          <a:ln w="12700">
            <a:solidFill>
              <a:srgbClr val="5B6B7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188720" y="2651760"/>
            <a:ext cx="0" cy="1261872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" y="265176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88720" y="3913632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6160" y="2651760"/>
            <a:ext cx="0" cy="1261872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3864" y="265176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83864" y="3913632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29768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zero row reads: 0x₁ + 0x₂ + 0x₃ = 0. Every choice of x₁, x₂, x₃ satisfies that — so the system is under-determined and has infinitely many solutions.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17920" y="196596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2F7F9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2148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Solution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8577072" y="3493008"/>
            <a:ext cx="530352" cy="420624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31" name="Text 29"/>
          <p:cNvSpPr/>
          <p:nvPr/>
        </p:nvSpPr>
        <p:spPr>
          <a:xfrm>
            <a:off x="6986016" y="2651760"/>
            <a:ext cx="530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516368" y="2651760"/>
            <a:ext cx="530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46720" y="2651760"/>
            <a:ext cx="530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577072" y="2651760"/>
            <a:ext cx="530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86016" y="3072384"/>
            <a:ext cx="530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516368" y="3072384"/>
            <a:ext cx="530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046720" y="3072384"/>
            <a:ext cx="530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577072" y="3072384"/>
            <a:ext cx="530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86016" y="3493008"/>
            <a:ext cx="530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516368" y="3493008"/>
            <a:ext cx="530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046720" y="3493008"/>
            <a:ext cx="530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577072" y="3493008"/>
            <a:ext cx="5303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577072" y="2606040"/>
            <a:ext cx="0" cy="1353312"/>
          </a:xfrm>
          <a:prstGeom prst="line">
            <a:avLst/>
          </a:prstGeom>
          <a:noFill/>
          <a:ln w="12700">
            <a:solidFill>
              <a:srgbClr val="5B6B76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6858000" y="2651760"/>
            <a:ext cx="0" cy="1261872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58000" y="265176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58000" y="3913632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35440" y="2651760"/>
            <a:ext cx="0" cy="1261872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53144" y="2651760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53144" y="3913632"/>
            <a:ext cx="82296" cy="0"/>
          </a:xfrm>
          <a:prstGeom prst="line">
            <a:avLst/>
          </a:prstGeom>
          <a:noFill/>
          <a:ln w="22225">
            <a:solidFill>
              <a:srgbClr val="1B1B1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92240" y="429768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zero row now reads: 0x₁ + 0x₂ + 0x₃ = 4. The left side is always 0, but the right side isn't — a contradiction. No values of x₁, x₂, x₃ can satisfy the system.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Elimination — Study Notes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Recap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33502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augmented matrix  [A | B]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0"/>
          </a:xfrm>
          <a:prstGeom prst="line">
            <a:avLst/>
          </a:prstGeom>
          <a:noFill/>
          <a:ln w="9525">
            <a:solidFill>
              <a:srgbClr val="D7E3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2996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299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199339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diagonal: if a pivot candidate is 0, swap in a nonzero row from below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395728"/>
            <a:ext cx="11064240" cy="0"/>
          </a:xfrm>
          <a:prstGeom prst="line">
            <a:avLst/>
          </a:prstGeom>
          <a:noFill/>
          <a:ln w="9525">
            <a:solidFill>
              <a:srgbClr val="D7E3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88336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883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651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each pivot row so the pivot equals 1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054096"/>
            <a:ext cx="11064240" cy="0"/>
          </a:xfrm>
          <a:prstGeom prst="line">
            <a:avLst/>
          </a:prstGeom>
          <a:noFill/>
          <a:ln w="9525">
            <a:solidFill>
              <a:srgbClr val="D7E3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346704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467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3101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Row-replace to zero out everything below each pivot  →  row echelon form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712464"/>
            <a:ext cx="11064240" cy="0"/>
          </a:xfrm>
          <a:prstGeom prst="line">
            <a:avLst/>
          </a:prstGeom>
          <a:noFill/>
          <a:ln w="9525">
            <a:solidFill>
              <a:srgbClr val="D7E3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00507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0050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3968496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a row of all zeros?  Stop — the system is singular (check the constant: 0 = infinite solutions, nonzero = no solution)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370832"/>
            <a:ext cx="11064240" cy="0"/>
          </a:xfrm>
          <a:prstGeom prst="line">
            <a:avLst/>
          </a:prstGeom>
          <a:noFill/>
          <a:ln w="9525">
            <a:solidFill>
              <a:srgbClr val="D7E3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663440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663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1560" y="462686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Otherwise, back-substitute from the last row upward  →  reduced row echelon form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48640" y="5029200"/>
            <a:ext cx="11064240" cy="0"/>
          </a:xfrm>
          <a:prstGeom prst="line">
            <a:avLst/>
          </a:prstGeom>
          <a:noFill/>
          <a:ln w="9525">
            <a:solidFill>
              <a:srgbClr val="D7E3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32180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3218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51560" y="528523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solution straight off the constant column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Elimination — Study Notes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ONTO THE C1W2 ASSIGNMENT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Math to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6692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7160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step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46520" y="137160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function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938528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a nonzero value below a zero pivot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46520" y="193852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get_index_first_non_zero_value_from_column(M, col, row)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05456"/>
            <a:ext cx="11064240" cy="566928"/>
          </a:xfrm>
          <a:prstGeom prst="rect">
            <a:avLst/>
          </a:prstGeom>
          <a:solidFill>
            <a:srgbClr val="F2F7F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05456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first nonzero entry in a row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46520" y="2505456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get_index_first_non_zero_value_from_row(M, row, augmented)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072384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two rows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46520" y="3072384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swap_rows(M, i, j)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39312"/>
            <a:ext cx="11064240" cy="566928"/>
          </a:xfrm>
          <a:prstGeom prst="rect">
            <a:avLst/>
          </a:prstGeom>
          <a:solidFill>
            <a:srgbClr val="F2F7F9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639312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 [A | B]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46520" y="3639312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augmented_matrix(A, B)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420624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to row echelon form (checks det(A) ≠ 0 first)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46520" y="420624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row_echelon_form(A, B)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773168"/>
            <a:ext cx="11064240" cy="566928"/>
          </a:xfrm>
          <a:prstGeom prst="rect">
            <a:avLst/>
          </a:prstGeom>
          <a:solidFill>
            <a:srgbClr val="F2F7F9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773168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Back-substitute to the solution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46520" y="477316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back_substitution(M)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5340096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whole pipeline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46520" y="5340096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gaussian_elimination(A, B)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Elimination — Study Notes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929384"/>
            <a:ext cx="82296" cy="82296"/>
          </a:xfrm>
          <a:prstGeom prst="ellipse">
            <a:avLst/>
          </a:prstGeom>
          <a:solidFill>
            <a:srgbClr val="5EC3B0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82880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elimination = augment → row echelon form → back substitution.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642616"/>
            <a:ext cx="82296" cy="82296"/>
          </a:xfrm>
          <a:prstGeom prst="ellipse">
            <a:avLst/>
          </a:prstGeom>
          <a:solidFill>
            <a:srgbClr val="5EC3B0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542032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operations (swap, scale, replace) never change the solution set.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3355848"/>
            <a:ext cx="82296" cy="82296"/>
          </a:xfrm>
          <a:prstGeom prst="ellipse">
            <a:avLst/>
          </a:prstGeom>
          <a:solidFill>
            <a:srgbClr val="5EC3B0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255264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of zeros signals a singular matrix — check the constant to tell infinite solutions from none.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4069080"/>
            <a:ext cx="82296" cy="82296"/>
          </a:xfrm>
          <a:prstGeom prst="ellipse">
            <a:avLst/>
          </a:prstGeom>
          <a:solidFill>
            <a:srgbClr val="5EC3B0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96849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assignment restricts to non-singular systems, which is why pivots always land on the diagonal.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4782312"/>
            <a:ext cx="82296" cy="82296"/>
          </a:xfrm>
          <a:prstGeom prst="ellipse">
            <a:avLst/>
          </a:prstGeom>
          <a:solidFill>
            <a:srgbClr val="5EC3B0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681728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putting these linear algebra foundations to work in weeks 3 &amp; 4, on the way to ML applications.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6309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for ML &amp; Data Science  ·  Course 1, Week 2  —  Personal study notes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2026-07-22T06:18:13Z</dcterms:created>
  <dcterms:modified xsi:type="dcterms:W3CDTF">2026-07-22T06:18:13Z</dcterms:modified>
</cp:coreProperties>
</file>